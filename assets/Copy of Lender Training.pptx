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6fa3c89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6fa3c8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6fa3c898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6fa3c8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961b2a5e2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961b2a5e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e961b2a5e2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e961b2a5e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961b2a5e2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e961b2a5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961b2a5e2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e961b2a5e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e961b2a5e2_0_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e961b2a5e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961b2a5e2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e961b2a5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961b2a5e2_0_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961b2a5e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82c97d45f_1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82c97d4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961b2a5e2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961b2a5e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8144c2c80a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8144c2c8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144c2c80a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144c2c80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1564162fe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1564162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7b0fcb9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7b0fcb9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43d2965b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43d2965b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c320b18d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c320b18d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hyperlink" Target="mailto:Applications@ondeck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mailto:ervinr@biigga.au" TargetMode="External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hyperlink" Target="mailto:awong@capify.com.au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mailto:cameron@strive.financial" TargetMode="External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anjoloans.com/partner-hub/business-loan-pricing-matrix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to know: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LENDER EDITION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WORKIN CAP INFO SHEET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400250" y="2711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Prospa - Topic area 1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5308275" y="991225"/>
            <a:ext cx="36414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54000" lvl="0" marL="457200" rtl="0" algn="l">
              <a:spcBef>
                <a:spcPts val="0"/>
              </a:spcBef>
              <a:spcAft>
                <a:spcPts val="0"/>
              </a:spcAft>
              <a:buSzPts val="400"/>
              <a:buChar char="●"/>
            </a:pPr>
            <a:r>
              <a:rPr b="1" lang="en" sz="900">
                <a:solidFill>
                  <a:schemeClr val="dk1"/>
                </a:solidFill>
              </a:rPr>
              <a:t>Industries they prefer: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b="1" lang="en" sz="900"/>
              <a:t>Hospitality, beauty &amp; wellbeing, retail</a:t>
            </a:r>
            <a:endParaRPr b="1" sz="900"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30827" y="774400"/>
            <a:ext cx="47829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How to sub an app - all through the portal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Workshopping - through slack - Jess C, Michelle G and Anna s - Prospa IQ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30825" y="1518400"/>
            <a:ext cx="6821400" cy="30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Main points for Prospa:</a:t>
            </a:r>
            <a:endParaRPr b="1" sz="900">
              <a:solidFill>
                <a:schemeClr val="dk1"/>
              </a:solidFill>
            </a:endParaRPr>
          </a:p>
          <a:p>
            <a:pPr indent="-281464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They like more than 5 monthly </a:t>
            </a:r>
            <a:r>
              <a:rPr b="1" lang="en" sz="900"/>
              <a:t>deposits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Verbal confirmation on tax debt &lt;$100k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They will accept PDF statements and 6 months statements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Term loan AND line of credit offer (minimum draw down for payment = $10)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Up to $150K non asset backed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3-5.5% on SBL and 3% on LOC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Run credit up front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80/20 refi policy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LOC can stack pretty </a:t>
            </a:r>
            <a:r>
              <a:rPr b="1" lang="en" sz="900"/>
              <a:t>easily alongside other products 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6 ish DH in 6 months (not fixed)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Not too fussed on days in Neg 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1.5% on remaining principal for early pay out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450 credit score COMPREHENSIVE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Non- financial/supplier defaults up to $15,000 unpaid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Financial defaults up to $10,000 unpaid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If the loan is $100K +, tax needs to be on a payment plan or no more than 60% of MTO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When ATO debt is on a payment plan, it cannot exceed 150% on MTO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Dishonours to the ATO are an automatic decline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$500K mid doc (tax portals, no caveat required)</a:t>
            </a:r>
            <a:endParaRPr b="1" sz="900"/>
          </a:p>
          <a:p>
            <a:pPr indent="-281464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900"/>
              <a:t>Loans over $150K require a credit call</a:t>
            </a:r>
            <a:endParaRPr b="1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Lumi</a:t>
            </a:r>
            <a:r>
              <a:rPr lang="en"/>
              <a:t> - Topic area 2</a:t>
            </a:r>
            <a:endParaRPr/>
          </a:p>
        </p:txBody>
      </p:sp>
      <p:sp>
        <p:nvSpPr>
          <p:cNvPr id="69" name="Google Shape;69;p15"/>
          <p:cNvSpPr txBox="1"/>
          <p:nvPr>
            <p:ph idx="2" type="body"/>
          </p:nvPr>
        </p:nvSpPr>
        <p:spPr>
          <a:xfrm>
            <a:off x="4191427" y="396950"/>
            <a:ext cx="47829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How to sub an app - through email / portal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Workshopping - through gchat, Marc, Emily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00275" y="1441275"/>
            <a:ext cx="7990800" cy="32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Main points for Lumi:</a:t>
            </a:r>
            <a:endParaRPr b="1" sz="1200">
              <a:solidFill>
                <a:schemeClr val="dk1"/>
              </a:solidFill>
            </a:endParaRPr>
          </a:p>
          <a:p>
            <a:pPr indent="-28733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Minimum 400 credit score - NEGATIVE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Verbal confirmation on tax debt &lt;$100k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No more than 13 dishonors in the last 90 days and no more than 2 financial dishonors in last 90 days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12 months statements via the banking link, PC, CF and drivers license for submission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Term loan AND line of credit offer (minimum draw down for payment = $2K or more than broker comms)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Up to $150K non asset backing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Commission is </a:t>
            </a:r>
            <a:r>
              <a:rPr b="1" lang="en" sz="1000"/>
              <a:t>dependent</a:t>
            </a:r>
            <a:r>
              <a:rPr b="1" lang="en" sz="1000"/>
              <a:t> on tier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You manage the full process - AM from Lumi will do pre settlement call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Run credit once they approve the deal or it declines due to poor risk grade. Servicing decliens wont hit credit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Trading time minimum 12 months (6 months if prop owner)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Do not accept agriculture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No penalties for early payout after 6 months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No facility fees on the LOC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Will PO the ATO directly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Loans $150K + need 1-1 equity 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Loans above $250K require a credit call 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Loans above $300K usually need a caveat (negotiable if a very strong deal) 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Can refi 2 other cashflow facilities with a 5% rate loading </a:t>
            </a:r>
            <a:endParaRPr b="1" sz="1000"/>
          </a:p>
          <a:p>
            <a:pPr indent="-28733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n" sz="1000"/>
              <a:t>Generally will want to refi ATO debt if $100K +</a:t>
            </a:r>
            <a:endParaRPr b="1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Shift</a:t>
            </a:r>
            <a:r>
              <a:rPr lang="en"/>
              <a:t> - Topic area 4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396250" y="1250900"/>
            <a:ext cx="37929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How to sub an app - all through the portal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Workshopping - through slack - Ramandeep Singh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5308275" y="1168100"/>
            <a:ext cx="3641400" cy="8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54000" lvl="0" marL="457200" rtl="0" algn="l">
              <a:spcBef>
                <a:spcPts val="0"/>
              </a:spcBef>
              <a:spcAft>
                <a:spcPts val="0"/>
              </a:spcAft>
              <a:buSzPts val="400"/>
              <a:buChar char="●"/>
            </a:pPr>
            <a:r>
              <a:rPr b="1" lang="en" sz="900">
                <a:solidFill>
                  <a:schemeClr val="dk1"/>
                </a:solidFill>
              </a:rPr>
              <a:t>Industries they prefer:</a:t>
            </a:r>
            <a:endParaRPr b="1" sz="900">
              <a:solidFill>
                <a:schemeClr val="dk1"/>
              </a:solidFill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r>
              <a:rPr b="1" lang="en" sz="900"/>
              <a:t>No preferred industry, happy to take on anything other than Property development/Mining, Primary Agriculture and Adult entertainment</a:t>
            </a:r>
            <a:endParaRPr b="1" sz="900"/>
          </a:p>
        </p:txBody>
      </p:sp>
      <p:sp>
        <p:nvSpPr>
          <p:cNvPr id="78" name="Google Shape;78;p16"/>
          <p:cNvSpPr txBox="1"/>
          <p:nvPr/>
        </p:nvSpPr>
        <p:spPr>
          <a:xfrm>
            <a:off x="721000" y="1824650"/>
            <a:ext cx="5369700" cy="30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Main points for Shift: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Products</a:t>
            </a: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they offer: Asset Finance, Term Loan, Overdraft, Equipment finance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Don’t take tax debt into too much consideration under $50K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time in business 2 years + 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They will accept 6 month statements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OD Drawdown $1000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Up to $100K non asset backed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4% on SBL and 3% on LOC (2% on any LOC lower than 23.95% APR)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Complete Product guide - https://www.shift.com.au/product-guide/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 client will have to follow the steps from shift, signing their privacy consent and uploading bank statements again.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 score - Comprehensive and must be over 550.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Approvals within 24 hours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Loans over $1,000,000 will require up to date financial statements and copy of ATO </a:t>
            </a: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documents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Maximum term 5 years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Payout Policy - Remaining principal and interest on last payment 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6169100" y="2354200"/>
            <a:ext cx="2851500" cy="22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more than 4 </a:t>
            </a: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dishonours</a:t>
            </a: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in the last 6 </a:t>
            </a: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months.</a:t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2439100" y="4671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Fuel</a:t>
            </a:r>
            <a:r>
              <a:rPr lang="en"/>
              <a:t> - Topic area 5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2125" y="1620150"/>
            <a:ext cx="3830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Features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Product: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Term loan &amp; LOC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Term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6-24 months for loans between 10K-100K </a:t>
            </a:r>
            <a:r>
              <a:rPr i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or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6-36 months for loans between 200K-500K 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Repayments: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weekly (typically quote 52 weeks)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Rate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usually 38% APR for TL/ 19-29% for LOC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1 -1 </a:t>
            </a: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serviceability</a:t>
            </a: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 with MTO</a:t>
            </a:r>
            <a:endParaRPr sz="1100">
              <a:solidFill>
                <a:srgbClr val="8E2AD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8E2AD0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8E2AD0"/>
                </a:solidFill>
                <a:latin typeface="Lato"/>
                <a:ea typeface="Lato"/>
                <a:cs typeface="Lato"/>
                <a:sym typeface="Lato"/>
              </a:rPr>
              <a:t>Construction not prop backed = $50K max</a:t>
            </a:r>
            <a:endParaRPr sz="1100">
              <a:solidFill>
                <a:srgbClr val="8E2AD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86475" y="3151350"/>
            <a:ext cx="35817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Submission Process</a:t>
            </a:r>
            <a:endParaRPr sz="1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PackerT@scotpac.com.au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Include the following: 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Business write-up, app form, ID, 12 or 6 month bank statements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Settlements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within 24-48 hours 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 upfront credit checks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4343275" y="1211350"/>
            <a:ext cx="4475400" cy="42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Things to consider: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ATO debt: For loans &gt;$100k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If ATO debt is under 100k = no problem. If ATO debt &gt; $100k, it MUST be on a PP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Defaults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Will accept unpaid non financial defaults under 5K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Credit scores: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Minimum credit score accepted is usually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around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320 but 625+ is ideal NEGATIVE SCORE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Credit assessment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Loan amounts of 50K + go through two rounds of credit assessment (so the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initial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approval may change)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Dishonors: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Only allow maximum 5% dishonors in the past 6 months and all dishonors must be made up before application.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Commission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between 3%-6%. Top ups are 4%. LOCs are 4%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will stack with additional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cash flow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lenders depending on serviceability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Property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Client needs to be property backed if trading for min 6 months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MTO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cant be less than 10k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Exclusions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No industry exclusions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Will accept VISA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holders if CF is more than 5 years old, trading 3 years and property backed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9900FF"/>
                </a:solidFill>
                <a:latin typeface="Calibri"/>
                <a:ea typeface="Calibri"/>
                <a:cs typeface="Calibri"/>
                <a:sym typeface="Calibri"/>
              </a:rPr>
              <a:t>HIL :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will refi the caps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2125" y="1211350"/>
            <a:ext cx="464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Background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Business fuel was acquired by Scotpac in 2022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Dynamoney</a:t>
            </a:r>
            <a:r>
              <a:rPr lang="en"/>
              <a:t> - Topic area 5</a:t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2475075" y="1252250"/>
            <a:ext cx="510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107275" y="1119250"/>
            <a:ext cx="41061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Key Features: </a:t>
            </a:r>
            <a:endParaRPr b="1">
              <a:solidFill>
                <a:srgbClr val="0000FF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$5000 - $500,000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OD capped at $300K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Term - 12 months to 60 months 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APR starting from: 14.40% - 22.95%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OD </a:t>
            </a:r>
            <a:r>
              <a:rPr lang="en" sz="1200">
                <a:solidFill>
                  <a:schemeClr val="dk2"/>
                </a:solidFill>
              </a:rPr>
              <a:t>commission</a:t>
            </a:r>
            <a:r>
              <a:rPr lang="en" sz="1200">
                <a:solidFill>
                  <a:schemeClr val="dk2"/>
                </a:solidFill>
              </a:rPr>
              <a:t> paid without drawing down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OD is an interest only facility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754200" y="1119250"/>
            <a:ext cx="4539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Things to consider before submitting</a:t>
            </a:r>
            <a:endParaRPr b="1" sz="12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 ABN age: 24 months, min GST reg 12 months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OD over 50k - Property owner, 100k for term loan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 director score 500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OD is interest only payments (PIQ shows P&amp;I)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More than 80% LVR means their not property owner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ATO portals over 100k and if tax not sighted they will also for it.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Servicing - 1 - 2 x last 6 months average turnover.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Credit will be run once you submit the application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offer an equity raise - workshop these with Jack Bushell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 not 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stack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with AMEX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 $200K caveat on property is required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Point of contact:</a:t>
            </a:r>
            <a:endParaRPr b="1" sz="12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-"/>
            </a:pPr>
            <a:r>
              <a:rPr b="1"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Jack Bushell, over gchat or on the phone</a:t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107275" y="2527000"/>
            <a:ext cx="5108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Knockouts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More than 1 non-bank 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cash flow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lender (need to be refinanced)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Overdue ATO debt is not acceptable but manageable ATO payment plans are accepted.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Fitness, Beauty Industry &amp; Property Development is pretty much a no go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04850" y="3553475"/>
            <a:ext cx="5108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Selling point:</a:t>
            </a:r>
            <a:endParaRPr b="1" sz="1300">
              <a:solidFill>
                <a:srgbClr val="00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Very attractive APR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OD is interest only payments on </a:t>
            </a: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monthly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basis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Exit fee is only $495-$795 + Principle.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Facility fee 1.5% for an OD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Quick approval process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2369175" y="3894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Ondeck</a:t>
            </a:r>
            <a:r>
              <a:rPr lang="en"/>
              <a:t> - Topic area 7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57400" y="1056750"/>
            <a:ext cx="35742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 Features: 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Product - Term Loans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$10k - $250k amount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Coms 6% top up 4%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service 2-3 x their MTO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30 month terms max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23%  standard but can lower to 20% on special request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Weekly repayments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90 days Topup period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30250" y="2756375"/>
            <a:ext cx="3628500" cy="27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 selling points: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Approval within 24hrs - 2 hours for their lightning product which is less than $100k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 credit score 500 NEGATIVE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Love hospitality and retail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Low risk industries receive 25% increase in lending capacity (listed below)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$175K with no property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maximum client age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 rotWithShape="1">
          <a:blip r:embed="rId3">
            <a:alphaModFix/>
          </a:blip>
          <a:srcRect b="0" l="0" r="9617" t="18825"/>
          <a:stretch/>
        </p:blipFill>
        <p:spPr>
          <a:xfrm>
            <a:off x="3958750" y="2497300"/>
            <a:ext cx="1306850" cy="16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 txBox="1"/>
          <p:nvPr/>
        </p:nvSpPr>
        <p:spPr>
          <a:xfrm>
            <a:off x="5841675" y="2756375"/>
            <a:ext cx="31944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Things to consider: 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Won't stack on prospa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Either low doc or full doc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10k MTO minimum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ATO docs needed for loans of below $100K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Tax debt can’t be more than 10% of annual turnover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Early payout is 75% of interest plus principle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unpaid defaults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refi the caps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4">
            <a:alphaModFix/>
          </a:blip>
          <a:srcRect b="0" l="0" r="19974" t="24488"/>
          <a:stretch/>
        </p:blipFill>
        <p:spPr>
          <a:xfrm>
            <a:off x="3958750" y="1437372"/>
            <a:ext cx="1335150" cy="99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/>
        </p:nvSpPr>
        <p:spPr>
          <a:xfrm>
            <a:off x="5841675" y="1041150"/>
            <a:ext cx="29613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Submission process: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-"/>
            </a:pPr>
            <a:r>
              <a:rPr lang="en" sz="9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Applications@ondeck.com</a:t>
            </a: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to make an application.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Include bank statements, credit file, ID, application form and usual summary of business and loan purpose.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Call - 1800 676 652  if needed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Senior BDM - Joshua Edmondston jedmondston@ondeck.com.au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Finance One</a:t>
            </a:r>
            <a:r>
              <a:rPr lang="en"/>
              <a:t> - Topic area 9</a:t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62125" y="1211350"/>
            <a:ext cx="3830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Key Features</a:t>
            </a:r>
            <a:endParaRPr sz="1100">
              <a:solidFill>
                <a:srgbClr val="1155CC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Product: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Term loan - 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Platinum $5,000-$50,000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Gold $5,000 - $35,000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Term: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0-10k 12 months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10-20k 24 months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○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20k+ 36 months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Repayments: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weekly, fort or monthly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Rate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17.45% Platinum &amp; 23.45% Gold SIMPLE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Payout early: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N/A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Stacking</a:t>
            </a: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Can stack on competitor loan  after 90 days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Refinance: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Can replace a second cash flow lender 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86475" y="3704651"/>
            <a:ext cx="3581700" cy="18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Submission Proce</a:t>
            </a: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ss</a:t>
            </a:r>
            <a:endParaRPr sz="1100">
              <a:solidFill>
                <a:srgbClr val="1155CC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Online Dashboard - Long Process</a:t>
            </a:r>
            <a:endParaRPr sz="1100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Include the following</a:t>
            </a:r>
            <a:r>
              <a:rPr lang="en" sz="11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Privacy Statement, bankies (majority of accounts), credit file, ID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Settlements: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within 24-48 hours 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Credit run 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contracts are requested 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768175" y="1125875"/>
            <a:ext cx="4475400" cy="31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Things to consider:</a:t>
            </a:r>
            <a:endParaRPr sz="1100">
              <a:solidFill>
                <a:srgbClr val="1155CC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ATO debt</a:t>
            </a: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needs to be manageable / on a PP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Defaults: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No finance defaults in last 12 months. MAX $5,000 unpaid financial default. 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Living Situation: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Renting or Property owners only (Boarding / private renting DO NOT ACCEPT)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Dishonours:</a:t>
            </a:r>
            <a:r>
              <a:rPr lang="en" sz="1000">
                <a:solidFill>
                  <a:srgbClr val="8E2AD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max 3 in 6 months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Overdrawns: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max 30 days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Commission: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8% BABY + $1,100 Origination fee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Stacking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will stack with additional cash flow lenders depending on serviceability (case by case)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Security: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can use vehicles as security (has to be a road worthy vehicle)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Exclusions: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NDIS and rideshare / food delivery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SACC Loans: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Multiple short term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payday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lender activity is a knockout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rPr>
              <a:t>ABN Trading Time: </a:t>
            </a: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18 Months Platinum. 12 months Gold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Calibri"/>
              <a:buChar char="●"/>
            </a:pPr>
            <a:r>
              <a:rPr lang="en"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They take an average of the last 6 months so if one month is under $5K - this is the lender to go to</a:t>
            </a:r>
            <a:endParaRPr sz="1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200" y="0"/>
            <a:ext cx="1827150" cy="11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Bizcap </a:t>
            </a:r>
            <a:r>
              <a:rPr lang="en"/>
              <a:t>- Topic area 8</a:t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441525" y="1211350"/>
            <a:ext cx="4130400" cy="3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 Features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Size: $5k-$4M 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(unsecured up to $500k)(Lines of credit up to $300k)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Short Loan Terms: 3-12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months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Turnover: Typically $12k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Repayments: Daily or Weekly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Trading Time: Typically 6 months unless cash flow is strong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minimum credit score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Defaults and Judgements can be workable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Must be run past Meg before submitting</a:t>
            </a:r>
            <a:endParaRPr b="1"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Submission Process 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Email to deals@bizcap.com.au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Business bank statements and bizcap loan application are required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Approval is sent via email, with a final call made with the client before submission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117950" y="1511100"/>
            <a:ext cx="25281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" name="Google Shape;126;p21"/>
          <p:cNvSpPr txBox="1"/>
          <p:nvPr/>
        </p:nvSpPr>
        <p:spPr>
          <a:xfrm>
            <a:off x="4420275" y="1211350"/>
            <a:ext cx="4128600" cy="17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Things to consider</a:t>
            </a:r>
            <a:endParaRPr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Restricted Industries: Ticket Brokers and Cryptocurrency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Case By Case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Assessment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Car Dealerships, Labor Hire, Finance Business, Corporate Lawyers, Adult Entertainment, Online Pharmacies, Not For Profits,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Nutraceuticals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Drug </a:t>
            </a: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Paraphernalia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1 year trading for construction, commercial cleaning and transport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Construction and Transport MTO at least $30k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Fast Assessment as little as 3 hours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For loans over $150k you require: Tax Portals; Last Tax Return; Profit and Loss; Balance Sheet; Accounts Receivable/Payable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Customers are eligible for renewal once 60% of the loan term is reached and top-ups 20% into the loan term, assuming a good repayment history.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make a conditional offer without running credit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Stacking : will stack with </a:t>
            </a:r>
            <a:r>
              <a:rPr b="1"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anything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Very rubbish early payout option 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Lato"/>
              <a:buChar char="●"/>
            </a:pPr>
            <a:r>
              <a:rPr lang="en" sz="11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you have a long term plan with the client, maybe avoid </a:t>
            </a:r>
            <a:endParaRPr sz="1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2289450" y="61550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Biigga - Topic area 10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55025"/>
            <a:ext cx="23622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 txBox="1"/>
          <p:nvPr/>
        </p:nvSpPr>
        <p:spPr>
          <a:xfrm>
            <a:off x="0" y="1211350"/>
            <a:ext cx="3763500" cy="16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Products offerings</a:t>
            </a:r>
            <a:r>
              <a:rPr lang="en" sz="1100">
                <a:solidFill>
                  <a:schemeClr val="accent2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:</a:t>
            </a:r>
            <a:endParaRPr sz="1100">
              <a:solidFill>
                <a:schemeClr val="accent2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Merchant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Cash Advancement - Term loan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$10k - 250k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Fixed or variable repayment structure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Repayments - Daily/weekly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Maximum term 24 months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loan size $8K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35800" y="2487550"/>
            <a:ext cx="3763500" cy="1409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➔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Merchant Cash Advancement - 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Line of credit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Same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parameters as MCA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Available for approvals &gt;50k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◆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drawdown amounts 20k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0" y="3365375"/>
            <a:ext cx="3382200" cy="140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Favoured </a:t>
            </a:r>
            <a:r>
              <a:rPr lang="en" sz="1100">
                <a:solidFill>
                  <a:schemeClr val="accent2"/>
                </a:solidFill>
                <a:highlight>
                  <a:schemeClr val="lt1"/>
                </a:highlight>
                <a:latin typeface="Lato"/>
                <a:ea typeface="Lato"/>
                <a:cs typeface="Lato"/>
                <a:sym typeface="Lato"/>
              </a:rPr>
              <a:t>industries: </a:t>
            </a:r>
            <a:endParaRPr sz="1100">
              <a:solidFill>
                <a:schemeClr val="accent2"/>
              </a:solidFill>
              <a:highlight>
                <a:schemeClr val="lt1"/>
              </a:highlight>
              <a:latin typeface="Lato"/>
              <a:ea typeface="Lato"/>
              <a:cs typeface="Lato"/>
              <a:sym typeface="Lato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Retail/ EFTPOS businesses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Restaurants/Hospitality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Health &amp; beauty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Auto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382200" y="1132600"/>
            <a:ext cx="3186900" cy="24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Biigga Treats  </a:t>
            </a:r>
            <a:r>
              <a:rPr lang="en" sz="13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      </a:t>
            </a:r>
            <a:endParaRPr sz="13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Does not need to be GST 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registered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offer 50% discount on early payout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SACC loans are not a deal breaker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 accepted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accept 6 months bank 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statements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take an average of MTO (10k min)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Overdrawn/Dishonors discretionary (to an extent)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stack against multiple unsecured loans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minimum credit score 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cut-off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New broker portal in works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look at 1 director being on a visa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look at businesses under 6 months if really strong application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6466950" y="501325"/>
            <a:ext cx="2841600" cy="15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 Submission/workshop: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Subbed via their portal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Workshop: Ervin Robovit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Mobile: 0497357354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Email: </a:t>
            </a:r>
            <a:r>
              <a:rPr lang="en" sz="10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ervinr@biigga.au</a:t>
            </a: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	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Client to complete Biigga link https://online.biigga.au/app/start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6529900" y="1754575"/>
            <a:ext cx="25581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Additional</a:t>
            </a:r>
            <a:r>
              <a:rPr lang="en" sz="11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 considerations:</a:t>
            </a:r>
            <a:endParaRPr sz="11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Quote factor rate not APR - e.g 1.24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Typically a daily rate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Short loan terms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Deals over 100k need ATO portal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financials defaults within last 2 years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more than 5 dishonors in latest month - K/O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Happy to go $250K no property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1175" y="3566500"/>
            <a:ext cx="6522826" cy="150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/>
          <p:nvPr/>
        </p:nvSpPr>
        <p:spPr>
          <a:xfrm>
            <a:off x="1947875" y="4302275"/>
            <a:ext cx="615900" cy="361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2"/>
          <p:cNvSpPr txBox="1"/>
          <p:nvPr/>
        </p:nvSpPr>
        <p:spPr>
          <a:xfrm>
            <a:off x="1131575" y="4302275"/>
            <a:ext cx="8163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Tiering</a:t>
            </a:r>
            <a:endParaRPr sz="1300"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2400250" y="575950"/>
            <a:ext cx="42048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Capify</a:t>
            </a:r>
            <a:r>
              <a:rPr lang="en"/>
              <a:t> - Topic area 10</a:t>
            </a:r>
            <a:endParaRPr/>
          </a:p>
        </p:txBody>
      </p:sp>
      <p:sp>
        <p:nvSpPr>
          <p:cNvPr id="147" name="Google Shape;147;p23"/>
          <p:cNvSpPr txBox="1"/>
          <p:nvPr/>
        </p:nvSpPr>
        <p:spPr>
          <a:xfrm>
            <a:off x="6848250" y="575950"/>
            <a:ext cx="201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Submitting Applications: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" sz="12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awong@capify.com.au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Contact/BDM: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Alice Wong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8" name="Google Shape;148;p23"/>
          <p:cNvSpPr txBox="1"/>
          <p:nvPr/>
        </p:nvSpPr>
        <p:spPr>
          <a:xfrm>
            <a:off x="271275" y="1211350"/>
            <a:ext cx="2643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Key Features: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Size: $5,000 - $500,000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Term: 2.5 - 18 Months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MTO: Minimum $10,000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Repayments: Daily or weekly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Credit Score: 300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Trading: 6 Months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Comms: Up to 8%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9" name="Google Shape;149;p23"/>
          <p:cNvSpPr txBox="1"/>
          <p:nvPr/>
        </p:nvSpPr>
        <p:spPr>
          <a:xfrm>
            <a:off x="186000" y="2712000"/>
            <a:ext cx="4629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Products:</a:t>
            </a: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Unsecured Business Loan: Fixed daily or weekly repayments (depending on 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cash flow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). Up to $300,000.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Unsecured Business Loan (&gt;$300,000): based on individual affordability.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Merchant Cash 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Advance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: repaid by taking % of daily EFPOS sales. Up to $150,000.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Capify Flex: 2.5 - 7 months repayments, up to $100,000.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4815600" y="1390575"/>
            <a:ext cx="41844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Things to Consider: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Every months turnover must be &gt;$10k.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Don’t like cafes or construction.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 or 12 month bank statements.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Paid defaults 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accepted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or manageable defaults on payment plan.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Option for businesses with adverse credit files.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ATO payments 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reviewed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&gt;$150,000.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High interest (simple interest starts from 35%) but alternative option for 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clients</a:t>
            </a:r>
            <a:r>
              <a:rPr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with poor credit score or poor bank statements.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lang="en" sz="1150">
                <a:solidFill>
                  <a:srgbClr val="1D1C1D"/>
                </a:solidFill>
                <a:highlight>
                  <a:srgbClr val="FFFFFF"/>
                </a:highlight>
              </a:rPr>
              <a:t>Can work with businesses who can only provide 3 months worth of banking data under their Merchant Cash Advance product.</a:t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Lato"/>
              <a:buChar char="●"/>
            </a:pPr>
            <a:r>
              <a:rPr b="1" lang="en" sz="1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**Must run it by ISM for approval before submitting application**</a:t>
            </a:r>
            <a:endParaRPr b="1"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Vine </a:t>
            </a:r>
            <a:r>
              <a:rPr lang="en"/>
              <a:t>- Topic area 11</a:t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6338700" y="575950"/>
            <a:ext cx="2481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BDM: Heath Fitzpatrick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Mobile: 0412805785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Email: partnerships@vinecapital.com.au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403900" y="1277625"/>
            <a:ext cx="28437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CC0000"/>
                </a:solidFill>
                <a:latin typeface="Lato"/>
                <a:ea typeface="Lato"/>
                <a:cs typeface="Lato"/>
                <a:sym typeface="Lato"/>
              </a:rPr>
              <a:t>4 Products/Facilities</a:t>
            </a:r>
            <a:endParaRPr b="1" sz="800" u="sng">
              <a:solidFill>
                <a:srgbClr val="CC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AutoNum type="arabicPeriod"/>
            </a:pPr>
            <a:r>
              <a:rPr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Interest Only Finance</a:t>
            </a:r>
            <a:endParaRPr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Terms up to 24 months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Pay principal at the end of the year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AutoNum type="arabicPeriod"/>
            </a:pPr>
            <a:r>
              <a:rPr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Principle and Interest Finance</a:t>
            </a:r>
            <a:endParaRPr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 Terms up to 36 months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- No early payout/early exit fees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AutoNum type="arabicPeriod"/>
            </a:pPr>
            <a:r>
              <a:rPr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Line of Credit</a:t>
            </a:r>
            <a:endParaRPr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Revolving facility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Principal and interest facility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Terms up to 24 months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AutoNum type="arabicPeriod"/>
            </a:pPr>
            <a:r>
              <a:rPr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Bridging Finance</a:t>
            </a:r>
            <a:endParaRPr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Short term loan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Terms up to 6 months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One payment at the end of the term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8" name="Google Shape;158;p24"/>
          <p:cNvSpPr txBox="1"/>
          <p:nvPr/>
        </p:nvSpPr>
        <p:spPr>
          <a:xfrm>
            <a:off x="3110875" y="1346050"/>
            <a:ext cx="2522400" cy="3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Criteria</a:t>
            </a:r>
            <a:endParaRPr b="1" sz="800" u="sng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Must be a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homeowner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Evidence of either monthly or future income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Will consider both new and existing businesses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Business structures accepted: Sole Trader, Partnership, PTY LTD, Trust - no requirement for GST registration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If a client’s owned properties are mortgaged with the same lender - all properties will be required for security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Properties in Tasmania will incur additional legal fees and lengthy settlements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Properties in ACT are excluded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Excluded Industries: New Build Construction, single income trades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2nd mortgage behind a private lender is excluded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Depending on product, maximum LVR will be 60%-80% if in a city and 50-70% in rural.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621425" y="3313725"/>
            <a:ext cx="22662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All repayments for all products are weekly or fortnightly.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6110875" y="1390000"/>
            <a:ext cx="2450700" cy="21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Key Points</a:t>
            </a:r>
            <a:endParaRPr b="1" sz="800" u="sng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Maximum loan value for P+I and interest only is </a:t>
            </a: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$500,000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Maximum loan term for principle and interest is between 3 - 5 years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Maximum LOC limit is </a:t>
            </a: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$150,000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Interest Only term is max 2 year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loan value is </a:t>
            </a:r>
            <a:r>
              <a:rPr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$10,000</a:t>
            </a:r>
            <a:endParaRPr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Interest Only product is max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2.5%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 month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Simple Rate for P + I starts at 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14.92/16.06% 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Application fee for all products is a minimum of </a:t>
            </a: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$995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up to </a:t>
            </a: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$100,000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Brokerage set by the broker (normally 5%)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Legal fees start at </a:t>
            </a: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$2500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24"/>
          <p:cNvSpPr txBox="1"/>
          <p:nvPr/>
        </p:nvSpPr>
        <p:spPr>
          <a:xfrm>
            <a:off x="563750" y="3713950"/>
            <a:ext cx="2450700" cy="9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Documents Required</a:t>
            </a:r>
            <a:endParaRPr b="1" sz="800" u="sng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Current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Rates Notice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Last 3 months of mortgage transactions 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Drivers License/Passport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Current Credit File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 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months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of business bank statements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2" name="Google Shape;16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9525" y="474100"/>
            <a:ext cx="1744950" cy="5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55975" y="3563826"/>
            <a:ext cx="1688425" cy="103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Strive</a:t>
            </a:r>
            <a:r>
              <a:rPr lang="en"/>
              <a:t> - Topic area 12</a:t>
            </a:r>
            <a:endParaRPr/>
          </a:p>
        </p:txBody>
      </p:sp>
      <p:sp>
        <p:nvSpPr>
          <p:cNvPr id="169" name="Google Shape;169;p25"/>
          <p:cNvSpPr txBox="1"/>
          <p:nvPr/>
        </p:nvSpPr>
        <p:spPr>
          <a:xfrm>
            <a:off x="511050" y="1121025"/>
            <a:ext cx="2580000" cy="17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6491125" y="601150"/>
            <a:ext cx="2134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BDM: Cameron Garnham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Mobile: 0401177783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Email: </a:t>
            </a:r>
            <a:r>
              <a:rPr i="1" lang="en" sz="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cameron@strive.financial</a:t>
            </a: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i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346200" y="1195200"/>
            <a:ext cx="2134800" cy="3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 Products/Facilities</a:t>
            </a:r>
            <a:endParaRPr b="1"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800"/>
              <a:buFont typeface="Lato"/>
              <a:buAutoNum type="arabicPeriod"/>
            </a:pPr>
            <a:r>
              <a:rPr b="1" lang="en" sz="800" u="sng">
                <a:solidFill>
                  <a:srgbClr val="6AA84F"/>
                </a:solidFill>
                <a:latin typeface="Lato"/>
                <a:ea typeface="Lato"/>
                <a:cs typeface="Lato"/>
                <a:sym typeface="Lato"/>
              </a:rPr>
              <a:t>Line of Credit</a:t>
            </a:r>
            <a:endParaRPr b="1" sz="800" u="sng">
              <a:solidFill>
                <a:srgbClr val="6AA84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$25,000-$2,000,000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loan size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1 - 24 month term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Security required: first and second mortgages, PPSR over cars, trucks and boats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2.99%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per month on the outstanding balance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Prep Fee: from $4995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Lato"/>
              <a:buAutoNum type="arabicPeriod"/>
            </a:pPr>
            <a:r>
              <a:rPr b="1" lang="en" sz="800" u="sng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Short Term Loan</a:t>
            </a:r>
            <a:endParaRPr b="1" sz="800" u="sng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$50,000-$2,000,000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size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 months to 24 months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Security required: first and second mortgages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2.49%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per month - interest only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Prep Fee: from $4995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800"/>
              <a:buFont typeface="Lato"/>
              <a:buAutoNum type="arabicPeriod"/>
            </a:pPr>
            <a:r>
              <a:rPr b="1" lang="en" sz="800" u="sng">
                <a:solidFill>
                  <a:srgbClr val="4A86E8"/>
                </a:solidFill>
                <a:latin typeface="Lato"/>
                <a:ea typeface="Lato"/>
                <a:cs typeface="Lato"/>
                <a:sym typeface="Lato"/>
              </a:rPr>
              <a:t>Medium Term Loan</a:t>
            </a:r>
            <a:endParaRPr b="1" sz="800" u="sng">
              <a:solidFill>
                <a:srgbClr val="4A86E8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i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$50,000 to $2,000,000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loan size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 months to 24 month term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Security required: first and second mortgages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Rate per month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1.99%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-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Prep Fee: from $4995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ALL ARE INTEREST ONLY!</a:t>
            </a:r>
            <a:endParaRPr b="1" sz="800" u="sng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777825" y="1285875"/>
            <a:ext cx="2497500" cy="1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FF00FF"/>
                </a:solidFill>
                <a:latin typeface="Lato"/>
                <a:ea typeface="Lato"/>
                <a:cs typeface="Lato"/>
                <a:sym typeface="Lato"/>
              </a:rPr>
              <a:t>Criteria</a:t>
            </a:r>
            <a:endParaRPr b="1" sz="800" u="sng">
              <a:solidFill>
                <a:srgbClr val="FF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Property owner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 day ABN accepted/considered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Australia wide, no exclusions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upfront fees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They do not do credit checks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They do not need ATO portals, BAS or bank statements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Must have an exit strategy 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restricted industries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 Purpose can be ATO pay outs, consolidation/refinance of working capital lenders, builders waiting for progress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payments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etc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2777825" y="3049800"/>
            <a:ext cx="2497500" cy="14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Documents Required</a:t>
            </a:r>
            <a:endParaRPr b="1" sz="800" u="sng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Current Rates Notice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6 months of 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mortgage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and mortgage statements/transactions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Driver’s license/Passport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digital loan documents - customer attends a solicitors office to sign the documents/Strive can also go to meet them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5852475" y="1343575"/>
            <a:ext cx="2497500" cy="28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solidFill>
                  <a:srgbClr val="9900FF"/>
                </a:solidFill>
                <a:latin typeface="Lato"/>
                <a:ea typeface="Lato"/>
                <a:cs typeface="Lato"/>
                <a:sym typeface="Lato"/>
              </a:rPr>
              <a:t>What Strive Will Not Do</a:t>
            </a:r>
            <a:endParaRPr b="1" sz="800" u="sng">
              <a:solidFill>
                <a:srgbClr val="9900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Loans for consumer purposes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Secure loans against the property of an applicant’s parents, unless they are actively involved in the business for over 12 months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Secure loans against the property of an applicant’s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spouse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(owned solely or jointly) unless they become a loan party (joint ABN)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Loans to 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individuals</a:t>
            </a: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, sole traders or family partnerships. </a:t>
            </a:r>
            <a:r>
              <a:rPr b="1"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Must be PTY LTD</a:t>
            </a:r>
            <a:endParaRPr b="1"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Loans to pensioners or people who are earning over 50% of their income through government assistance/benefits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8275" y="3437225"/>
            <a:ext cx="1805075" cy="120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2950" y="226875"/>
            <a:ext cx="1624200" cy="7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2369175" y="3894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Propell - Topic area 13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357400" y="1056750"/>
            <a:ext cx="3574200" cy="1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 Features: 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$10K - $250K loan amount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Up to 24 month terms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Always unsecured - will not want a caveat / prop security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Minimum time trading : 12 months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Repayments</a:t>
            </a: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are monthly, not weekly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1.8% - 3% per month rates </a:t>
            </a: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depending</a:t>
            </a: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on profile (P&amp;I)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3% establishment fee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330250" y="2647100"/>
            <a:ext cx="3628500" cy="27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Key selling points: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refinance high interest lending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do FHI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stack with the caps also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minimum credit score (if an issue or default, must be given context around it)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other ongoing fees - only late fees will be </a:t>
            </a: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applied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restricted industries (case by case)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Only one director to sign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4" name="Google Shape;184;p26"/>
          <p:cNvSpPr txBox="1"/>
          <p:nvPr/>
        </p:nvSpPr>
        <p:spPr>
          <a:xfrm>
            <a:off x="5170825" y="2756375"/>
            <a:ext cx="38652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Things to consider: 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Conditional approval given before credit checks are run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MTO has to be $10K a month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No max DH / defaults but context </a:t>
            </a:r>
            <a:r>
              <a:rPr b="1"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must </a:t>
            </a: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be provided 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6"/>
          <p:cNvSpPr txBox="1"/>
          <p:nvPr/>
        </p:nvSpPr>
        <p:spPr>
          <a:xfrm>
            <a:off x="5841675" y="1041150"/>
            <a:ext cx="296130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Submission process:</a:t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Lato"/>
              <a:buChar char="-"/>
            </a:pPr>
            <a:r>
              <a:rPr lang="en" sz="9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Can submit via email - deals@propell.au</a:t>
            </a:r>
            <a:endParaRPr sz="9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375" y="935971"/>
            <a:ext cx="2514800" cy="78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7"/>
          <p:cNvSpPr txBox="1"/>
          <p:nvPr>
            <p:ph type="title"/>
          </p:nvPr>
        </p:nvSpPr>
        <p:spPr>
          <a:xfrm>
            <a:off x="172925" y="1270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MOULA</a:t>
            </a:r>
            <a:endParaRPr/>
          </a:p>
        </p:txBody>
      </p:sp>
      <p:sp>
        <p:nvSpPr>
          <p:cNvPr id="192" name="Google Shape;192;p27"/>
          <p:cNvSpPr txBox="1"/>
          <p:nvPr>
            <p:ph idx="2" type="body"/>
          </p:nvPr>
        </p:nvSpPr>
        <p:spPr>
          <a:xfrm>
            <a:off x="172925" y="719675"/>
            <a:ext cx="4139100" cy="40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</a:rPr>
              <a:t>Main points for Moula:</a:t>
            </a:r>
            <a:endParaRPr b="1" sz="1200" u="sng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Look at negative credit score : 450 minimum - ideally want 500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go up to $250K no prop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do $500K just ATO portals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If below $250K and approved for 50% of loan amount they will hit credit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payout the loan with no fees after 3 months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do a 3 year term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Fortnightly repayments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look into businesses trading under 12M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Minimum 12M trading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accept PDF AND CSV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Up to $50K will do one director guarantee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Can fund up to 70 years old - on discretion can do older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Sub through the portal - hard to workshop with 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Tax portals up front for deals over $150K</a:t>
            </a:r>
            <a:endParaRPr b="1"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000"/>
              <a:t>No financial DH in the past 90 days </a:t>
            </a:r>
            <a:endParaRPr b="1" sz="1000"/>
          </a:p>
        </p:txBody>
      </p:sp>
      <p:sp>
        <p:nvSpPr>
          <p:cNvPr id="193" name="Google Shape;193;p27"/>
          <p:cNvSpPr txBox="1"/>
          <p:nvPr>
            <p:ph idx="2" type="body"/>
          </p:nvPr>
        </p:nvSpPr>
        <p:spPr>
          <a:xfrm>
            <a:off x="4705200" y="762450"/>
            <a:ext cx="4139100" cy="45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Moula Line of credit - similar to term loan</a:t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year availability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Revolving around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Fortnightly instalments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2% of principal drawn + interest $100,000 every fortnight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weeks = $2,000 + 26%/26 rate (calculated daily paid fortnight)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$150k currently , up to $500k later 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drawdown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Comms upfront - 4% establishment financed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15.99 - 24.99% moula LOC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tier 15.99% 2M year trading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Minimum trading (2 yrs minimum trading)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Won’t convert Business loan → LOC 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in quarterly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refi competitor loans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ongoing fees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stacking whatsoever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b="1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PDFs</a:t>
            </a:r>
            <a:endParaRPr b="1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41275" y="84475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Finstro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-19650" y="693450"/>
            <a:ext cx="4303800" cy="37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 u="sng">
                <a:latin typeface="Arial"/>
                <a:ea typeface="Arial"/>
                <a:cs typeface="Arial"/>
                <a:sym typeface="Arial"/>
              </a:rPr>
              <a:t>Facility Info</a:t>
            </a:r>
            <a:endParaRPr b="1" sz="800" u="sng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LOC or debtor lends only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Can stack on caps, can refinance multiple cash flow facilities without caps as long as they service</a:t>
            </a:r>
            <a:r>
              <a:rPr lang="en" sz="800"/>
              <a:t>, good at refinancing caps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Maximum 3 year terms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weekly repayments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/>
              <a:t>Look at Negative Score</a:t>
            </a:r>
            <a:br>
              <a:rPr lang="en" sz="800">
                <a:latin typeface="Arial"/>
                <a:ea typeface="Arial"/>
                <a:cs typeface="Arial"/>
                <a:sym typeface="Arial"/>
              </a:rPr>
            </a:br>
            <a:br>
              <a:rPr lang="en" sz="800">
                <a:latin typeface="Arial"/>
                <a:ea typeface="Arial"/>
                <a:cs typeface="Arial"/>
                <a:sym typeface="Arial"/>
              </a:rPr>
            </a:b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Minimum 12 months ABN and GST registration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Minimum 12 months bank statements for assessment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Can accept PDF statements for assessment - slightly longer lead times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Up to $500k no property backing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Minimum annual turnover $75k+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ID and selfie with ID upfront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>
                <a:latin typeface="Arial"/>
                <a:ea typeface="Arial"/>
                <a:cs typeface="Arial"/>
                <a:sym typeface="Arial"/>
              </a:rPr>
              <a:t>No more than 5 financial dishonors within the last 7 days, no more than 36 dishonors in the last 12 months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00"/>
              <a:buFont typeface="Arial"/>
              <a:buChar char="●"/>
            </a:pPr>
            <a:r>
              <a:rPr lang="en" sz="800"/>
              <a:t>Overdraws</a:t>
            </a:r>
            <a:r>
              <a:rPr lang="en" sz="800">
                <a:latin typeface="Arial"/>
                <a:ea typeface="Arial"/>
                <a:cs typeface="Arial"/>
                <a:sym typeface="Arial"/>
              </a:rPr>
              <a:t> do not count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8"/>
          <p:cNvSpPr txBox="1"/>
          <p:nvPr>
            <p:ph idx="2" type="body"/>
          </p:nvPr>
        </p:nvSpPr>
        <p:spPr>
          <a:xfrm>
            <a:off x="4284150" y="286975"/>
            <a:ext cx="4810200" cy="46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 u="sng">
                <a:latin typeface="Arial"/>
                <a:ea typeface="Arial"/>
                <a:cs typeface="Arial"/>
                <a:sym typeface="Arial"/>
              </a:rPr>
              <a:t>Subbing App</a:t>
            </a:r>
            <a:endParaRPr b="1" sz="3300" u="sng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3353"/>
              <a:t>WS with Naomi or Dan and email info template</a:t>
            </a:r>
            <a:endParaRPr sz="3353"/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Client will have to complete full application link for credit assessment for credit checks upfront - will also need 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ID &amp; Selfie with ID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No ATO portals upto $25k - if 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sufficient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 payments 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sighted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 in banking upto $150k no portals - Construction (always needed after $25k)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No 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sufficient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 tax payment </a:t>
            </a:r>
            <a:r>
              <a:rPr lang="en" sz="3353">
                <a:latin typeface="Arial"/>
                <a:ea typeface="Arial"/>
                <a:cs typeface="Arial"/>
                <a:sym typeface="Arial"/>
              </a:rPr>
              <a:t>will need: Last x2 BAS, ICA</a:t>
            </a:r>
            <a:br>
              <a:rPr lang="en" sz="3353"/>
            </a:br>
            <a:br>
              <a:rPr lang="en" sz="3353"/>
            </a:br>
            <a:r>
              <a:rPr b="1" lang="en" sz="3353" u="sng">
                <a:latin typeface="Arial"/>
                <a:ea typeface="Arial"/>
                <a:cs typeface="Arial"/>
                <a:sym typeface="Arial"/>
              </a:rPr>
              <a:t>Credit Scoring</a:t>
            </a:r>
            <a:br>
              <a:rPr b="1" lang="en" sz="3353" u="sng">
                <a:latin typeface="Arial"/>
                <a:ea typeface="Arial"/>
                <a:cs typeface="Arial"/>
                <a:sym typeface="Arial"/>
              </a:rPr>
            </a:br>
            <a:endParaRPr b="1" sz="3353" u="sng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Minimum company score 400, director credit scores dependent on industry - Blended score but more geared to negative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Construction minimum 600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Agriculture, Forestry and Fishing 700+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Accommodation and Food services 500+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Uber 700+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Mining 700+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Arts and Recreation 500+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Education and Training 500+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Electricity, Gas, Water and Waste Services 600+</a:t>
            </a:r>
            <a:br>
              <a:rPr lang="en" sz="3353">
                <a:latin typeface="Arial"/>
                <a:ea typeface="Arial"/>
                <a:cs typeface="Arial"/>
                <a:sym typeface="Arial"/>
              </a:rPr>
            </a:br>
            <a:br>
              <a:rPr lang="en" sz="3353">
                <a:latin typeface="Arial"/>
                <a:ea typeface="Arial"/>
                <a:cs typeface="Arial"/>
                <a:sym typeface="Arial"/>
              </a:rPr>
            </a:br>
            <a:r>
              <a:rPr b="1" lang="en" sz="3353" u="sng">
                <a:latin typeface="Arial"/>
                <a:ea typeface="Arial"/>
                <a:cs typeface="Arial"/>
                <a:sym typeface="Arial"/>
              </a:rPr>
              <a:t>Positives</a:t>
            </a:r>
            <a:r>
              <a:rPr b="1" lang="en" sz="3353" u="sng">
                <a:latin typeface="Arial"/>
                <a:ea typeface="Arial"/>
                <a:cs typeface="Arial"/>
                <a:sym typeface="Arial"/>
              </a:rPr>
              <a:t> and Negative</a:t>
            </a:r>
            <a:br>
              <a:rPr b="1" lang="en" sz="3353" u="sng">
                <a:latin typeface="Arial"/>
                <a:ea typeface="Arial"/>
                <a:cs typeface="Arial"/>
                <a:sym typeface="Arial"/>
              </a:rPr>
            </a:br>
            <a:endParaRPr b="1" sz="3353" u="sng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Positive Variables: Property backed, asset ownership and tax payments in banking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-281827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3353">
                <a:latin typeface="Arial"/>
                <a:ea typeface="Arial"/>
                <a:cs typeface="Arial"/>
                <a:sym typeface="Arial"/>
              </a:rPr>
              <a:t>Negative Variables: Gambling activity, ATM withdrawals, adverse credit history, debt collection, outstanding tax</a:t>
            </a:r>
            <a:endParaRPr sz="3353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Banjo: </a:t>
            </a:r>
            <a:r>
              <a:rPr lang="en" u="sng">
                <a:solidFill>
                  <a:schemeClr val="hlink"/>
                </a:solidFill>
                <a:hlinkClick r:id="rId3"/>
              </a:rPr>
              <a:t>Pricing matrix</a:t>
            </a:r>
            <a:endParaRPr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Selling Points</a:t>
            </a:r>
            <a:endParaRPr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Min MTO: $42k (500k annually)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4% comms excl GST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Tax tolerance is 10% of annual turnover. If client’s tax is &gt;10%, Banjo can pay it down to get it within a reasonable level.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Up to $500k Mid Doc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property backing required up to $1m (maybe $2m)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Will only take property security if deal isn’t perfect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refi caps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cooldown window if client has already taken finance recently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stack on shopify, square etc.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refi multiple facilities at once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offer loans to businesses &lt;2 years if strong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negotiate pricing once approved (a bit)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GSA on 250k+</a:t>
            </a:r>
            <a:endParaRPr sz="1000"/>
          </a:p>
        </p:txBody>
      </p:sp>
      <p:sp>
        <p:nvSpPr>
          <p:cNvPr id="207" name="Google Shape;207;p29"/>
          <p:cNvSpPr txBox="1"/>
          <p:nvPr>
            <p:ph idx="2" type="body"/>
          </p:nvPr>
        </p:nvSpPr>
        <p:spPr>
          <a:xfrm>
            <a:off x="4832400" y="1152475"/>
            <a:ext cx="3999900" cy="17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Flaws</a:t>
            </a:r>
            <a:endParaRPr/>
          </a:p>
          <a:p>
            <a:pPr indent="-2825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No low doc process. ICA + ITA always required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Will add rate loading for ato debt, dishonours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Have some excluded </a:t>
            </a:r>
            <a:r>
              <a:rPr lang="en" sz="1000"/>
              <a:t>industries</a:t>
            </a:r>
            <a:r>
              <a:rPr lang="en" sz="1000"/>
              <a:t> e,g, agriculture, resi build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Credit assessors can be unnecessarily rigorous relative to other lenders</a:t>
            </a:r>
            <a:endParaRPr sz="1000"/>
          </a:p>
          <a:p>
            <a:pPr indent="-2825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000"/>
              <a:t>Tax conduct is very important. If tax is due to client negligence e.g. frequent late lodgements, they won’t touch it</a:t>
            </a:r>
            <a:endParaRPr sz="1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08" name="Google Shape;208;p29"/>
          <p:cNvSpPr txBox="1"/>
          <p:nvPr>
            <p:ph idx="2" type="body"/>
          </p:nvPr>
        </p:nvSpPr>
        <p:spPr>
          <a:xfrm>
            <a:off x="4936550" y="3063900"/>
            <a:ext cx="3999900" cy="17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submit</a:t>
            </a:r>
            <a:endParaRPr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Via portal: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No up front credit checks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Credit hit once client is happy to proceed with </a:t>
            </a:r>
            <a:r>
              <a:rPr lang="en" sz="1000"/>
              <a:t>their conditional approval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Can message Haifa for any questions.</a:t>
            </a:r>
            <a:endParaRPr sz="10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